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56" r:id="rId3"/>
    <p:sldId id="258" r:id="rId4"/>
    <p:sldId id="262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72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90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15DDA5-1F9D-7E41-A496-8E61ED389BCA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F6234-306C-184B-828A-A082D1CCC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326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90071-B739-164F-BE5E-508C80571CB2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7849-4664-4D47-904C-6DD856346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14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90071-B739-164F-BE5E-508C80571CB2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7849-4664-4D47-904C-6DD856346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28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90071-B739-164F-BE5E-508C80571CB2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7849-4664-4D47-904C-6DD856346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656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90071-B739-164F-BE5E-508C80571CB2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7849-4664-4D47-904C-6DD856346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70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90071-B739-164F-BE5E-508C80571CB2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7849-4664-4D47-904C-6DD856346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82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90071-B739-164F-BE5E-508C80571CB2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7849-4664-4D47-904C-6DD856346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885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90071-B739-164F-BE5E-508C80571CB2}" type="datetimeFigureOut">
              <a:rPr lang="en-US" smtClean="0"/>
              <a:t>1/19/26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7849-4664-4D47-904C-6DD856346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139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90071-B739-164F-BE5E-508C80571CB2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7849-4664-4D47-904C-6DD856346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572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90071-B739-164F-BE5E-508C80571CB2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7849-4664-4D47-904C-6DD856346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803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90071-B739-164F-BE5E-508C80571CB2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7849-4664-4D47-904C-6DD856346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326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90071-B739-164F-BE5E-508C80571CB2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7849-4664-4D47-904C-6DD856346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97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90071-B739-164F-BE5E-508C80571CB2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67849-4664-4D47-904C-6DD856346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085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98088" y="280515"/>
            <a:ext cx="11195824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 Light" charset="0"/>
              </a:rPr>
              <a:t>				</a:t>
            </a:r>
            <a:r>
              <a:rPr lang="en-US" b="1" i="0" u="sng" strike="noStrike" dirty="0">
                <a:solidFill>
                  <a:srgbClr val="000000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</a:effectLst>
                <a:latin typeface="Calibri Light" charset="0"/>
              </a:rPr>
              <a:t>Welcome to AE403</a:t>
            </a:r>
          </a:p>
          <a:p>
            <a:pPr algn="just">
              <a:spcAft>
                <a:spcPts val="1200"/>
              </a:spcAft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 Light" charset="0"/>
              </a:rPr>
              <a:t>Welcome </a:t>
            </a:r>
            <a:r>
              <a:rPr lang="en-US" b="0" i="0" u="none" strike="noStrike">
                <a:solidFill>
                  <a:srgbClr val="000000"/>
                </a:solidFill>
                <a:effectLst/>
                <a:latin typeface="Calibri Light" charset="0"/>
              </a:rPr>
              <a:t>to 2026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 Light" charset="0"/>
              </a:rPr>
              <a:t>Spring semester at SDSU and to the AE403</a:t>
            </a:r>
            <a:r>
              <a:rPr lang="en-US" b="0" i="0" u="none" strike="noStrike" dirty="0">
                <a:solidFill>
                  <a:srgbClr val="FF0000"/>
                </a:solidFill>
                <a:effectLst/>
                <a:latin typeface="Calibri Light" charset="0"/>
              </a:rPr>
              <a:t>W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 Light" charset="0"/>
              </a:rPr>
              <a:t> class. </a:t>
            </a:r>
          </a:p>
          <a:p>
            <a:pPr algn="just">
              <a:spcAft>
                <a:spcPts val="1200"/>
              </a:spcAft>
            </a:pPr>
            <a:r>
              <a:rPr lang="en-US" dirty="0">
                <a:solidFill>
                  <a:srgbClr val="000000"/>
                </a:solidFill>
                <a:latin typeface="Calibri Light" charset="0"/>
              </a:rPr>
              <a:t>T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 Light" charset="0"/>
              </a:rPr>
              <a:t>his class involves personal meetings and working/fabricating/testing in the lab. Usually, I list several options for the design projects and I’m also open to ideas from the students. Then we form groups of 2 to 4 students who work towards accomplishing the project objectives. </a:t>
            </a:r>
          </a:p>
          <a:p>
            <a:pPr algn="just">
              <a:spcAft>
                <a:spcPts val="1200"/>
              </a:spcAft>
            </a:pPr>
            <a:r>
              <a:rPr lang="en-US" dirty="0">
                <a:solidFill>
                  <a:srgbClr val="000000"/>
                </a:solidFill>
                <a:latin typeface="Calibri Light" charset="0"/>
              </a:rPr>
              <a:t>First, we need to form groups</a:t>
            </a:r>
          </a:p>
          <a:p>
            <a:pPr algn="just">
              <a:spcAft>
                <a:spcPts val="1200"/>
              </a:spcAft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 Light" charset="0"/>
              </a:rPr>
              <a:t>Next, we try to decide on the project.</a:t>
            </a:r>
          </a:p>
          <a:p>
            <a:pPr algn="just">
              <a:spcAft>
                <a:spcPts val="1200"/>
              </a:spcAft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 Light" charset="0"/>
              </a:rPr>
              <a:t>Here are some other remarks:</a:t>
            </a:r>
          </a:p>
          <a:p>
            <a:pPr algn="just"/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 Light" charset="0"/>
              </a:rPr>
              <a:t>The AE department policy is to admit only 40 students to this course. </a:t>
            </a:r>
          </a:p>
          <a:p>
            <a:pPr algn="just"/>
            <a:endParaRPr lang="en-US" dirty="0">
              <a:solidFill>
                <a:srgbClr val="000000"/>
              </a:solidFill>
              <a:latin typeface="Calibri Light" charset="0"/>
            </a:endParaRPr>
          </a:p>
          <a:p>
            <a:pPr algn="just"/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 Light" charset="0"/>
              </a:rPr>
              <a:t>No ‘incomplete’ grade!</a:t>
            </a:r>
          </a:p>
          <a:p>
            <a:pPr algn="just"/>
            <a:endParaRPr lang="en-US" dirty="0">
              <a:solidFill>
                <a:srgbClr val="000000"/>
              </a:solidFill>
              <a:latin typeface="Calibri Light" charset="0"/>
            </a:endParaRPr>
          </a:p>
          <a:p>
            <a:pPr algn="just"/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 Light" charset="0"/>
              </a:rPr>
              <a:t>Safety training: a) exam,  b) visit to the wind tunnel lab.</a:t>
            </a:r>
          </a:p>
          <a:p>
            <a:pPr algn="just"/>
            <a:endParaRPr lang="en-US" dirty="0">
              <a:solidFill>
                <a:srgbClr val="000000"/>
              </a:solidFill>
              <a:latin typeface="Calibri Light" charset="0"/>
            </a:endParaRPr>
          </a:p>
          <a:p>
            <a:pPr algn="just"/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 Light" charset="0"/>
              </a:rPr>
              <a:t>Writing content.</a:t>
            </a:r>
            <a:endParaRPr lang="en-US" b="0" i="0" u="none" strike="noStrike" dirty="0">
              <a:solidFill>
                <a:srgbClr val="000000"/>
              </a:solidFill>
              <a:effectLst/>
              <a:latin typeface="Helvetica Neue" charset="0"/>
            </a:endParaRPr>
          </a:p>
          <a:p>
            <a:pPr algn="just"/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 Light" charset="0"/>
              </a:rPr>
              <a:t> </a:t>
            </a:r>
            <a:endParaRPr lang="en-US" b="0" i="0" u="none" strike="noStrike" dirty="0">
              <a:solidFill>
                <a:srgbClr val="000000"/>
              </a:solidFill>
              <a:effectLst/>
              <a:latin typeface="Helvetica Neue" charset="0"/>
            </a:endParaRP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409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87767" y="-57691"/>
            <a:ext cx="10884023" cy="6940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effectLst/>
                <a:latin typeface="Times New Roman" charset="0"/>
                <a:ea typeface="Times New Roman" charset="0"/>
              </a:rPr>
              <a:t>Course Number: AE403</a:t>
            </a:r>
          </a:p>
          <a:p>
            <a:pPr algn="ctr"/>
            <a:r>
              <a:rPr lang="en-US" sz="1400" dirty="0">
                <a:effectLst/>
                <a:latin typeface="Times New Roman" charset="0"/>
                <a:ea typeface="Times New Roman" charset="0"/>
              </a:rPr>
              <a:t>Course Title: Aero Eng. Senior Project</a:t>
            </a:r>
          </a:p>
          <a:p>
            <a:pPr marL="1828800" marR="0" indent="-1828800">
              <a:spcBef>
                <a:spcPts val="0"/>
              </a:spcBef>
              <a:spcAft>
                <a:spcPts val="0"/>
              </a:spcAft>
              <a:tabLst>
                <a:tab pos="1828800" algn="l"/>
              </a:tabLst>
            </a:pPr>
            <a:r>
              <a:rPr lang="en-US" sz="1400" dirty="0">
                <a:effectLst/>
                <a:latin typeface="Times New Roman" charset="0"/>
                <a:ea typeface="Times New Roman" charset="0"/>
              </a:rPr>
              <a:t> </a:t>
            </a:r>
          </a:p>
          <a:p>
            <a:pPr marL="1828800" marR="0" indent="-1828800">
              <a:spcBef>
                <a:spcPts val="0"/>
              </a:spcBef>
              <a:spcAft>
                <a:spcPts val="0"/>
              </a:spcAft>
              <a:tabLst>
                <a:tab pos="1828800" algn="l"/>
              </a:tabLst>
            </a:pPr>
            <a:r>
              <a:rPr lang="en-US" sz="1400" b="1" dirty="0">
                <a:effectLst/>
                <a:latin typeface="Times New Roman" charset="0"/>
                <a:ea typeface="Times New Roman" charset="0"/>
              </a:rPr>
              <a:t>Prerequisites by Topic:</a:t>
            </a:r>
            <a:r>
              <a:rPr lang="en-US" sz="1400" dirty="0">
                <a:effectLst/>
                <a:latin typeface="Times New Roman" charset="0"/>
                <a:ea typeface="Times New Roman" charset="0"/>
              </a:rPr>
              <a:t>	AE302, AE303, AE340</a:t>
            </a:r>
          </a:p>
          <a:p>
            <a:pPr marL="1828800" marR="0" indent="-1828800">
              <a:spcBef>
                <a:spcPts val="0"/>
              </a:spcBef>
              <a:spcAft>
                <a:spcPts val="0"/>
              </a:spcAft>
              <a:tabLst>
                <a:tab pos="1828800" algn="l"/>
              </a:tabLst>
            </a:pPr>
            <a:r>
              <a:rPr lang="en-US" sz="1400" dirty="0">
                <a:effectLst/>
                <a:latin typeface="Times New Roman" charset="0"/>
                <a:ea typeface="Times New Roman" charset="0"/>
              </a:rPr>
              <a:t> </a:t>
            </a:r>
          </a:p>
          <a:p>
            <a:pPr marL="2286000" marR="0" indent="-2286000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effectLst/>
                <a:latin typeface="Times New Roman" charset="0"/>
                <a:ea typeface="Times New Roman" charset="0"/>
              </a:rPr>
              <a:t>References</a:t>
            </a:r>
            <a:r>
              <a:rPr lang="en-US" sz="1400" dirty="0">
                <a:effectLst/>
                <a:latin typeface="Times New Roman" charset="0"/>
                <a:ea typeface="Times New Roman" charset="0"/>
              </a:rPr>
              <a:t> (recommended reading):	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400" dirty="0" err="1">
                <a:effectLst/>
                <a:latin typeface="Times New Roman" charset="0"/>
                <a:ea typeface="Times New Roman" charset="0"/>
              </a:rPr>
              <a:t>Dym</a:t>
            </a:r>
            <a:r>
              <a:rPr lang="en-US" sz="1400" dirty="0">
                <a:effectLst/>
                <a:latin typeface="Times New Roman" charset="0"/>
                <a:ea typeface="Times New Roman" charset="0"/>
              </a:rPr>
              <a:t> C I, “Engineering Design, A project based introduction,” John Wiley and Sons, 2004.	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400" dirty="0">
                <a:effectLst/>
                <a:latin typeface="Times New Roman" charset="0"/>
                <a:ea typeface="Times New Roman" charset="0"/>
              </a:rPr>
              <a:t>Ullman D, “The </a:t>
            </a:r>
            <a:r>
              <a:rPr lang="en-US" sz="1400" dirty="0" err="1">
                <a:effectLst/>
                <a:latin typeface="Times New Roman" charset="0"/>
                <a:ea typeface="Times New Roman" charset="0"/>
              </a:rPr>
              <a:t>Mechnaical</a:t>
            </a:r>
            <a:r>
              <a:rPr lang="en-US" sz="1400" dirty="0">
                <a:effectLst/>
                <a:latin typeface="Times New Roman" charset="0"/>
                <a:ea typeface="Times New Roman" charset="0"/>
              </a:rPr>
              <a:t> Design Process,” McGraw Hill, 1997.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400" dirty="0">
                <a:effectLst/>
                <a:latin typeface="Times New Roman" charset="0"/>
                <a:ea typeface="Times New Roman" charset="0"/>
              </a:rPr>
              <a:t>Brandt S A, Stiles R J, </a:t>
            </a:r>
            <a:r>
              <a:rPr lang="en-US" sz="1400" dirty="0" err="1">
                <a:effectLst/>
                <a:latin typeface="Times New Roman" charset="0"/>
                <a:ea typeface="Times New Roman" charset="0"/>
              </a:rPr>
              <a:t>Bertin</a:t>
            </a:r>
            <a:r>
              <a:rPr lang="en-US" sz="1400" dirty="0">
                <a:effectLst/>
                <a:latin typeface="Times New Roman" charset="0"/>
                <a:ea typeface="Times New Roman" charset="0"/>
              </a:rPr>
              <a:t> J J, and </a:t>
            </a:r>
            <a:r>
              <a:rPr lang="en-US" sz="1400" dirty="0" err="1">
                <a:effectLst/>
                <a:latin typeface="Times New Roman" charset="0"/>
                <a:ea typeface="Times New Roman" charset="0"/>
              </a:rPr>
              <a:t>Whitford</a:t>
            </a:r>
            <a:r>
              <a:rPr lang="en-US" sz="1400" dirty="0">
                <a:effectLst/>
                <a:latin typeface="Times New Roman" charset="0"/>
                <a:ea typeface="Times New Roman" charset="0"/>
              </a:rPr>
              <a:t> R, “Introduction to Aeronautics: A Design Perspective,” AIAA Educational Series, 1997.</a:t>
            </a:r>
          </a:p>
          <a:p>
            <a:pPr marL="1828800" marR="0" indent="-1828800">
              <a:spcBef>
                <a:spcPts val="0"/>
              </a:spcBef>
              <a:spcAft>
                <a:spcPts val="0"/>
              </a:spcAft>
              <a:tabLst>
                <a:tab pos="1828800" algn="l"/>
              </a:tabLst>
            </a:pPr>
            <a:r>
              <a:rPr lang="en-US" sz="1400" dirty="0">
                <a:effectLst/>
                <a:latin typeface="Times New Roman" charset="0"/>
                <a:ea typeface="Times New Roman" charset="0"/>
              </a:rPr>
              <a:t>	</a:t>
            </a:r>
          </a:p>
          <a:p>
            <a:pPr marL="1828800" marR="0" indent="-1828800">
              <a:spcBef>
                <a:spcPts val="0"/>
              </a:spcBef>
              <a:spcAft>
                <a:spcPts val="0"/>
              </a:spcAft>
              <a:tabLst>
                <a:tab pos="1828800" algn="l"/>
              </a:tabLst>
            </a:pPr>
            <a:r>
              <a:rPr lang="en-US" sz="1400" b="1" dirty="0">
                <a:effectLst/>
                <a:latin typeface="Times New Roman" charset="0"/>
                <a:ea typeface="Times New Roman" charset="0"/>
              </a:rPr>
              <a:t>Topics covered:	</a:t>
            </a:r>
            <a:endParaRPr lang="en-US" sz="1400" dirty="0">
              <a:effectLst/>
              <a:latin typeface="Times New Roman" charset="0"/>
              <a:ea typeface="Times New Roman" charset="0"/>
            </a:endParaRPr>
          </a:p>
          <a:p>
            <a:pPr marL="1828800" marR="0" indent="-1828800">
              <a:spcBef>
                <a:spcPts val="0"/>
              </a:spcBef>
              <a:spcAft>
                <a:spcPts val="0"/>
              </a:spcAft>
              <a:tabLst>
                <a:tab pos="1828800" algn="l"/>
              </a:tabLst>
            </a:pPr>
            <a:r>
              <a:rPr lang="en-US" sz="1400" dirty="0">
                <a:effectLst/>
                <a:latin typeface="Times New Roman" charset="0"/>
                <a:ea typeface="Times New Roman" charset="0"/>
              </a:rPr>
              <a:t>1.Introduction: Experimental uncertainty and statistical errors </a:t>
            </a:r>
          </a:p>
          <a:p>
            <a:pPr marL="1828800" marR="0" indent="-1828800">
              <a:spcBef>
                <a:spcPts val="0"/>
              </a:spcBef>
              <a:spcAft>
                <a:spcPts val="0"/>
              </a:spcAft>
              <a:tabLst>
                <a:tab pos="1828800" algn="l"/>
              </a:tabLst>
            </a:pPr>
            <a:r>
              <a:rPr lang="en-US" sz="1400" dirty="0">
                <a:effectLst/>
                <a:latin typeface="Times New Roman" charset="0"/>
                <a:ea typeface="Times New Roman" charset="0"/>
              </a:rPr>
              <a:t>2. Project management, time tables, pert diagrams </a:t>
            </a:r>
          </a:p>
          <a:p>
            <a:pPr marL="1828800" marR="0" indent="-1828800">
              <a:spcBef>
                <a:spcPts val="0"/>
              </a:spcBef>
              <a:spcAft>
                <a:spcPts val="0"/>
              </a:spcAft>
              <a:tabLst>
                <a:tab pos="1828800" algn="l"/>
              </a:tabLst>
            </a:pPr>
            <a:r>
              <a:rPr lang="en-US" sz="1400" dirty="0">
                <a:effectLst/>
                <a:latin typeface="Times New Roman" charset="0"/>
                <a:ea typeface="Times New Roman" charset="0"/>
              </a:rPr>
              <a:t>3. Literature search project definition and initial planning</a:t>
            </a:r>
          </a:p>
          <a:p>
            <a:pPr marL="1828800" marR="0" indent="-1828800">
              <a:spcBef>
                <a:spcPts val="0"/>
              </a:spcBef>
              <a:spcAft>
                <a:spcPts val="0"/>
              </a:spcAft>
              <a:tabLst>
                <a:tab pos="1828800" algn="l"/>
              </a:tabLst>
            </a:pPr>
            <a:r>
              <a:rPr lang="en-US" sz="1400" dirty="0">
                <a:effectLst/>
                <a:latin typeface="Times New Roman" charset="0"/>
                <a:ea typeface="Times New Roman" charset="0"/>
              </a:rPr>
              <a:t>4. Measurement techniques and data acquisition </a:t>
            </a:r>
          </a:p>
          <a:p>
            <a:pPr marL="1828800" marR="0" indent="-1828800">
              <a:spcBef>
                <a:spcPts val="0"/>
              </a:spcBef>
              <a:spcAft>
                <a:spcPts val="0"/>
              </a:spcAft>
              <a:tabLst>
                <a:tab pos="1828800" algn="l"/>
              </a:tabLst>
            </a:pPr>
            <a:r>
              <a:rPr lang="en-US" sz="1400" dirty="0">
                <a:effectLst/>
                <a:latin typeface="Times New Roman" charset="0"/>
                <a:ea typeface="Times New Roman" charset="0"/>
              </a:rPr>
              <a:t>5. Manufacturing and Safety in laboratory </a:t>
            </a:r>
          </a:p>
          <a:p>
            <a:pPr marL="1828800" marR="0" indent="-1828800">
              <a:spcBef>
                <a:spcPts val="0"/>
              </a:spcBef>
              <a:spcAft>
                <a:spcPts val="0"/>
              </a:spcAft>
              <a:tabLst>
                <a:tab pos="1828800" algn="l"/>
              </a:tabLst>
            </a:pPr>
            <a:r>
              <a:rPr lang="en-US" sz="1400" dirty="0">
                <a:effectLst/>
                <a:latin typeface="Times New Roman" charset="0"/>
                <a:ea typeface="Times New Roman" charset="0"/>
              </a:rPr>
              <a:t>6. Experimental methods (load, pressure measurements, and flow viz</a:t>
            </a:r>
            <a:r>
              <a:rPr lang="en-US" sz="1400" dirty="0">
                <a:latin typeface="Times New Roman" charset="0"/>
                <a:ea typeface="Times New Roman" charset="0"/>
              </a:rPr>
              <a:t>.)</a:t>
            </a:r>
            <a:endParaRPr lang="en-US" sz="1400" dirty="0">
              <a:effectLst/>
              <a:latin typeface="Times New Roman" charset="0"/>
              <a:ea typeface="Times New Roman" charset="0"/>
            </a:endParaRPr>
          </a:p>
          <a:p>
            <a:pPr marL="1828800" marR="0" indent="-1828800">
              <a:spcBef>
                <a:spcPts val="0"/>
              </a:spcBef>
              <a:spcAft>
                <a:spcPts val="0"/>
              </a:spcAft>
              <a:tabLst>
                <a:tab pos="1828800" algn="l"/>
              </a:tabLst>
            </a:pPr>
            <a:r>
              <a:rPr lang="en-US" sz="1400" dirty="0">
                <a:effectLst/>
                <a:latin typeface="Times New Roman" charset="0"/>
                <a:ea typeface="Times New Roman" charset="0"/>
              </a:rPr>
              <a:t>7. Design of proposed test </a:t>
            </a:r>
          </a:p>
          <a:p>
            <a:pPr marL="1828800" marR="0" indent="-1828800">
              <a:spcBef>
                <a:spcPts val="0"/>
              </a:spcBef>
              <a:spcAft>
                <a:spcPts val="0"/>
              </a:spcAft>
              <a:tabLst>
                <a:tab pos="1828800" algn="l"/>
              </a:tabLst>
            </a:pPr>
            <a:r>
              <a:rPr lang="en-US" sz="1400" dirty="0">
                <a:effectLst/>
                <a:latin typeface="Times New Roman" charset="0"/>
                <a:ea typeface="Times New Roman" charset="0"/>
              </a:rPr>
              <a:t>8. Conduct experiment</a:t>
            </a:r>
          </a:p>
          <a:p>
            <a:pPr marL="1828800" marR="0" indent="-1828800">
              <a:spcBef>
                <a:spcPts val="0"/>
              </a:spcBef>
              <a:spcAft>
                <a:spcPts val="0"/>
              </a:spcAft>
              <a:tabLst>
                <a:tab pos="1828800" algn="l"/>
              </a:tabLst>
            </a:pPr>
            <a:r>
              <a:rPr lang="en-US" sz="1400" dirty="0">
                <a:effectLst/>
                <a:latin typeface="Times New Roman" charset="0"/>
                <a:ea typeface="Times New Roman" charset="0"/>
              </a:rPr>
              <a:t>9. Analyze results </a:t>
            </a:r>
          </a:p>
          <a:p>
            <a:pPr marL="1828800" marR="0" indent="-1828800">
              <a:spcBef>
                <a:spcPts val="0"/>
              </a:spcBef>
              <a:spcAft>
                <a:spcPts val="0"/>
              </a:spcAft>
              <a:tabLst>
                <a:tab pos="1828800" algn="l"/>
              </a:tabLst>
            </a:pPr>
            <a:r>
              <a:rPr lang="en-US" sz="1400" dirty="0">
                <a:effectLst/>
                <a:latin typeface="Times New Roman" charset="0"/>
                <a:ea typeface="Times New Roman" charset="0"/>
              </a:rPr>
              <a:t>10. Write report and present results  </a:t>
            </a:r>
          </a:p>
          <a:p>
            <a:pPr marL="1828800" marR="0" indent="-1828800">
              <a:spcBef>
                <a:spcPts val="0"/>
              </a:spcBef>
              <a:spcAft>
                <a:spcPts val="0"/>
              </a:spcAft>
              <a:tabLst>
                <a:tab pos="1828800" algn="l"/>
              </a:tabLst>
            </a:pPr>
            <a:r>
              <a:rPr lang="en-US" sz="1400" dirty="0">
                <a:effectLst/>
                <a:latin typeface="Times New Roman" charset="0"/>
                <a:ea typeface="Times New Roman" charset="0"/>
              </a:rPr>
              <a:t> </a:t>
            </a:r>
          </a:p>
          <a:p>
            <a:pPr marL="1828800" marR="0" indent="-1828800">
              <a:spcBef>
                <a:spcPts val="0"/>
              </a:spcBef>
              <a:spcAft>
                <a:spcPts val="0"/>
              </a:spcAft>
              <a:tabLst>
                <a:tab pos="1828800" algn="l"/>
              </a:tabLst>
            </a:pPr>
            <a:r>
              <a:rPr lang="en-US" sz="1400" b="1" dirty="0">
                <a:effectLst/>
                <a:latin typeface="Times New Roman" charset="0"/>
                <a:ea typeface="Times New Roman" charset="0"/>
              </a:rPr>
              <a:t>Course Learning Outcomes:	</a:t>
            </a:r>
            <a:endParaRPr lang="en-US" sz="1400" dirty="0">
              <a:effectLst/>
              <a:latin typeface="Times New Roman" charset="0"/>
              <a:ea typeface="Times New Roman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400" dirty="0">
                <a:effectLst/>
                <a:latin typeface="Times New Roman" charset="0"/>
                <a:ea typeface="Times New Roman" charset="0"/>
              </a:rPr>
              <a:t>An understanding of physics, chemistry and mathematics and how to apply this knowledge in the solution of engineering problems.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  <a:tab pos="1828800" algn="l"/>
              </a:tabLst>
            </a:pPr>
            <a:r>
              <a:rPr lang="en-US" sz="1400" dirty="0">
                <a:effectLst/>
                <a:latin typeface="Times New Roman" charset="0"/>
                <a:ea typeface="Times New Roman" charset="0"/>
              </a:rPr>
              <a:t>Design, build, and test an aerospace project.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400" dirty="0">
                <a:effectLst/>
                <a:latin typeface="Times New Roman" charset="0"/>
                <a:ea typeface="Times New Roman" charset="0"/>
              </a:rPr>
              <a:t>An ability to design and conduct experiments, as well as to analyze and interpret data.</a:t>
            </a:r>
          </a:p>
          <a:p>
            <a:pPr marL="457200" marR="0" indent="-45720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effectLst/>
                <a:latin typeface="Times New Roman" charset="0"/>
                <a:ea typeface="Times New Roman" charset="0"/>
              </a:rPr>
              <a:t>4.	An ability to work on multi-disciplinary teams and to design complex systems such as aircraft or spacecraft, from a conceptual or preliminary design perspective.</a:t>
            </a:r>
          </a:p>
          <a:p>
            <a:pPr marL="457200" marR="0" indent="-457200">
              <a:spcBef>
                <a:spcPts val="0"/>
              </a:spcBef>
              <a:spcAft>
                <a:spcPts val="0"/>
              </a:spcAft>
              <a:tabLst>
                <a:tab pos="1828800" algn="l"/>
              </a:tabLst>
            </a:pPr>
            <a:r>
              <a:rPr lang="en-US" sz="1400" dirty="0">
                <a:effectLst/>
                <a:latin typeface="Times New Roman" charset="0"/>
                <a:ea typeface="Times New Roman" charset="0"/>
              </a:rPr>
              <a:t>5.         Develop good oral, written and graphical communication skills (reports and      presentations).</a:t>
            </a:r>
          </a:p>
          <a:p>
            <a:pPr marL="457200" marR="0" indent="-457200">
              <a:spcBef>
                <a:spcPts val="0"/>
              </a:spcBef>
              <a:spcAft>
                <a:spcPts val="0"/>
              </a:spcAft>
              <a:buAutoNum type="arabicPeriod" startAt="6"/>
            </a:pPr>
            <a:r>
              <a:rPr lang="en-US" sz="1400" dirty="0">
                <a:effectLst/>
                <a:latin typeface="Times New Roman" charset="0"/>
                <a:ea typeface="Times New Roman" charset="0"/>
              </a:rPr>
              <a:t>An ability to use the techniques, skills, and modern engineering tools necessary for engineering practice.</a:t>
            </a:r>
          </a:p>
          <a:p>
            <a:pPr marL="457200" marR="0" indent="-457200">
              <a:spcBef>
                <a:spcPts val="0"/>
              </a:spcBef>
              <a:spcAft>
                <a:spcPts val="0"/>
              </a:spcAft>
              <a:buAutoNum type="arabicPeriod" startAt="6"/>
            </a:pPr>
            <a:r>
              <a:rPr lang="en-US" sz="1400" dirty="0">
                <a:solidFill>
                  <a:srgbClr val="FF0000"/>
                </a:solidFill>
                <a:effectLst/>
                <a:latin typeface="Times New Roman" charset="0"/>
                <a:ea typeface="Times New Roman" charset="0"/>
              </a:rPr>
              <a:t>Safety in the lab </a:t>
            </a:r>
            <a:r>
              <a:rPr lang="mr-IN" sz="1400" dirty="0">
                <a:solidFill>
                  <a:srgbClr val="FF0000"/>
                </a:solidFill>
                <a:effectLst/>
                <a:latin typeface="Times New Roman" charset="0"/>
                <a:ea typeface="Times New Roman" charset="0"/>
              </a:rPr>
              <a:t>–</a:t>
            </a:r>
            <a:r>
              <a:rPr lang="en-US" sz="1400" dirty="0">
                <a:solidFill>
                  <a:srgbClr val="FF0000"/>
                </a:solidFill>
                <a:effectLst/>
                <a:latin typeface="Times New Roman" charset="0"/>
                <a:ea typeface="Times New Roman" charset="0"/>
              </a:rPr>
              <a:t> self exam + tour of labs</a:t>
            </a:r>
          </a:p>
        </p:txBody>
      </p:sp>
    </p:spTree>
    <p:extLst>
      <p:ext uri="{BB962C8B-B14F-4D97-AF65-F5344CB8AC3E}">
        <p14:creationId xmlns:p14="http://schemas.microsoft.com/office/powerpoint/2010/main" val="405734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712485" y="334537"/>
            <a:ext cx="24912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u="sng">
                <a:effectLst/>
                <a:latin typeface="Cambria" charset="0"/>
                <a:ea typeface="Cambria" charset="0"/>
                <a:cs typeface="Times New Roman" charset="0"/>
              </a:rPr>
              <a:t>AE403 Project outline</a:t>
            </a:r>
            <a:endParaRPr lang="en-US">
              <a:effectLst/>
              <a:latin typeface="Cambria" charset="0"/>
              <a:ea typeface="Cambria" charset="0"/>
              <a:cs typeface="Times New Roman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6741" y="1166842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effectLst/>
                <a:latin typeface="Cambria" charset="0"/>
                <a:ea typeface="Cambria" charset="0"/>
                <a:cs typeface="Times New Roman" charset="0"/>
              </a:rPr>
              <a:t>1. Research of previous work (Literature survey)</a:t>
            </a:r>
            <a:endParaRPr lang="en-US" dirty="0">
              <a:effectLst/>
              <a:latin typeface="Cambria" charset="0"/>
              <a:ea typeface="Cambria" charset="0"/>
              <a:cs typeface="Times New Roman" charset="0"/>
            </a:endParaRP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a. What was done in the past?</a:t>
            </a: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b. What still can be done?</a:t>
            </a: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c. Select route for current work.</a:t>
            </a: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d. Recommend future work (that cannot be covered during this period).</a:t>
            </a: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 </a:t>
            </a:r>
          </a:p>
          <a:p>
            <a:r>
              <a:rPr lang="en-US" b="1" dirty="0">
                <a:effectLst/>
                <a:latin typeface="Cambria" charset="0"/>
                <a:ea typeface="Cambria" charset="0"/>
                <a:cs typeface="Times New Roman" charset="0"/>
              </a:rPr>
              <a:t>2. Definition of Project</a:t>
            </a:r>
            <a:endParaRPr lang="en-US" dirty="0">
              <a:effectLst/>
              <a:latin typeface="Cambria" charset="0"/>
              <a:ea typeface="Cambria" charset="0"/>
              <a:cs typeface="Times New Roman" charset="0"/>
            </a:endParaRP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a. Examine several alternate (engineering) solutions</a:t>
            </a: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b. Select ‘most promising’ solution</a:t>
            </a: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c. Establish project time table (see attached Gantt chart)</a:t>
            </a: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 </a:t>
            </a:r>
          </a:p>
          <a:p>
            <a:r>
              <a:rPr lang="en-US" b="1" dirty="0">
                <a:effectLst/>
                <a:latin typeface="Cambria" charset="0"/>
                <a:ea typeface="Cambria" charset="0"/>
                <a:cs typeface="Times New Roman" charset="0"/>
              </a:rPr>
              <a:t>3. Phase #1 of Project</a:t>
            </a:r>
            <a:endParaRPr lang="en-US" dirty="0">
              <a:effectLst/>
              <a:latin typeface="Cambria" charset="0"/>
              <a:ea typeface="Cambria" charset="0"/>
              <a:cs typeface="Times New Roman" charset="0"/>
            </a:endParaRP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a. Obtain materials, learn supporting computer codes, etc.</a:t>
            </a: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b. Prepare/fabricate hardware (e.g., wind tunnel model)</a:t>
            </a: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c. Develop test support (</a:t>
            </a:r>
            <a:r>
              <a:rPr lang="en-US" dirty="0" err="1">
                <a:effectLst/>
                <a:latin typeface="Cambria" charset="0"/>
                <a:ea typeface="Cambria" charset="0"/>
                <a:cs typeface="Times New Roman" charset="0"/>
              </a:rPr>
              <a:t>e.g</a:t>
            </a:r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, software)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45766" y="1166842"/>
            <a:ext cx="545294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effectLst/>
                <a:latin typeface="Cambria" charset="0"/>
                <a:ea typeface="Cambria" charset="0"/>
                <a:cs typeface="Times New Roman" charset="0"/>
              </a:rPr>
              <a:t>4. Phase #2 of Project</a:t>
            </a:r>
            <a:endParaRPr lang="en-US" dirty="0">
              <a:effectLst/>
              <a:latin typeface="Cambria" charset="0"/>
              <a:ea typeface="Cambria" charset="0"/>
              <a:cs typeface="Times New Roman" charset="0"/>
            </a:endParaRP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a. Generate results (experimental/computational)</a:t>
            </a: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b. Analyze results</a:t>
            </a: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c. Based on analysis suggest improvement for immediate tests</a:t>
            </a: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d. If required, modify model/code</a:t>
            </a: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 </a:t>
            </a:r>
          </a:p>
          <a:p>
            <a:r>
              <a:rPr lang="en-US" b="1" dirty="0">
                <a:effectLst/>
                <a:latin typeface="Cambria" charset="0"/>
                <a:ea typeface="Cambria" charset="0"/>
                <a:cs typeface="Times New Roman" charset="0"/>
              </a:rPr>
              <a:t>5. Conclusions and Report Preparation</a:t>
            </a:r>
            <a:endParaRPr lang="en-US" dirty="0">
              <a:effectLst/>
              <a:latin typeface="Cambria" charset="0"/>
              <a:ea typeface="Cambria" charset="0"/>
              <a:cs typeface="Times New Roman" charset="0"/>
            </a:endParaRP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a. Extensive data reduction</a:t>
            </a: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b. Graphs (</a:t>
            </a:r>
            <a:r>
              <a:rPr lang="en-US" dirty="0" err="1">
                <a:effectLst/>
                <a:latin typeface="Cambria" charset="0"/>
                <a:ea typeface="Cambria" charset="0"/>
                <a:cs typeface="Times New Roman" charset="0"/>
              </a:rPr>
              <a:t>nondimensional</a:t>
            </a:r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 recommended) tables, etc.</a:t>
            </a: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c. Conclusions and future recommendations</a:t>
            </a: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d. Prepare written report</a:t>
            </a: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e. Prepare oral presentation</a:t>
            </a: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76914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8532" y="257452"/>
            <a:ext cx="1277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Gantt Chart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1104900"/>
            <a:ext cx="11811000" cy="4648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04514" y="5383768"/>
            <a:ext cx="10385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0.         1.         2.         3.         4.        5.         6.         7.         8.         9.        10.         11.         12.         13.        14.      15</a:t>
            </a:r>
          </a:p>
        </p:txBody>
      </p:sp>
    </p:spTree>
    <p:extLst>
      <p:ext uri="{BB962C8B-B14F-4D97-AF65-F5344CB8AC3E}">
        <p14:creationId xmlns:p14="http://schemas.microsoft.com/office/powerpoint/2010/main" val="1355794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15229" y="1483762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effectLst/>
                <a:latin typeface="Cambria" charset="0"/>
                <a:ea typeface="Cambria" charset="0"/>
                <a:cs typeface="Times New Roman" charset="0"/>
              </a:rPr>
              <a:t>1. Introduction</a:t>
            </a:r>
            <a:endParaRPr lang="en-US" dirty="0">
              <a:effectLst/>
              <a:latin typeface="Cambria" charset="0"/>
              <a:ea typeface="Cambria" charset="0"/>
              <a:cs typeface="Times New Roman" charset="0"/>
            </a:endParaRP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a. Describe motivation for the project</a:t>
            </a: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b. What was done in the past? How the current work fills the void?</a:t>
            </a: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c. Recommendations for future work (that cannot be covered during this period).</a:t>
            </a: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d. Support statements by literature survey</a:t>
            </a: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 </a:t>
            </a:r>
          </a:p>
          <a:p>
            <a:r>
              <a:rPr lang="en-US" b="1" dirty="0">
                <a:effectLst/>
                <a:latin typeface="Cambria" charset="0"/>
                <a:ea typeface="Cambria" charset="0"/>
                <a:cs typeface="Times New Roman" charset="0"/>
              </a:rPr>
              <a:t>2. Method (and describe the parameters investigated)</a:t>
            </a:r>
            <a:endParaRPr lang="en-US" dirty="0">
              <a:effectLst/>
              <a:latin typeface="Cambria" charset="0"/>
              <a:ea typeface="Cambria" charset="0"/>
              <a:cs typeface="Times New Roman" charset="0"/>
            </a:endParaRP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a. Detailed description of experimental setup, model, etc.</a:t>
            </a: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b. Description of computer codes if used</a:t>
            </a: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c. If some one reads this chapter ten years later – he must have sufficient information to duplicate the test and arrive at the same results!</a:t>
            </a: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 </a:t>
            </a:r>
          </a:p>
        </p:txBody>
      </p:sp>
      <p:sp>
        <p:nvSpPr>
          <p:cNvPr id="6" name="Rectangle 5"/>
          <p:cNvSpPr/>
          <p:nvPr/>
        </p:nvSpPr>
        <p:spPr>
          <a:xfrm>
            <a:off x="6627542" y="1652151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effectLst/>
                <a:latin typeface="Cambria" charset="0"/>
                <a:ea typeface="Cambria" charset="0"/>
                <a:cs typeface="Times New Roman" charset="0"/>
              </a:rPr>
              <a:t>3. Results</a:t>
            </a:r>
            <a:endParaRPr lang="en-US" dirty="0">
              <a:effectLst/>
              <a:latin typeface="Cambria" charset="0"/>
              <a:ea typeface="Cambria" charset="0"/>
              <a:cs typeface="Times New Roman" charset="0"/>
            </a:endParaRP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a. Present results, cross-plots, using easily recognized parameters </a:t>
            </a: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b. Use </a:t>
            </a:r>
            <a:r>
              <a:rPr lang="en-US" dirty="0" err="1">
                <a:effectLst/>
                <a:latin typeface="Cambria" charset="0"/>
                <a:ea typeface="Cambria" charset="0"/>
                <a:cs typeface="Times New Roman" charset="0"/>
              </a:rPr>
              <a:t>nondimensional</a:t>
            </a:r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 parameters if possible</a:t>
            </a: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c. Effect of variables must be easily observed</a:t>
            </a: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 </a:t>
            </a:r>
          </a:p>
          <a:p>
            <a:r>
              <a:rPr lang="en-US" b="1" dirty="0">
                <a:effectLst/>
                <a:latin typeface="Cambria" charset="0"/>
                <a:ea typeface="Cambria" charset="0"/>
                <a:cs typeface="Times New Roman" charset="0"/>
              </a:rPr>
              <a:t>5. Conclusions </a:t>
            </a:r>
            <a:endParaRPr lang="en-US" dirty="0">
              <a:effectLst/>
              <a:latin typeface="Cambria" charset="0"/>
              <a:ea typeface="Cambria" charset="0"/>
              <a:cs typeface="Times New Roman" charset="0"/>
            </a:endParaRP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a. Summarize most important conclusions</a:t>
            </a: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b. Explain how the initially set objectives were met</a:t>
            </a:r>
          </a:p>
          <a:p>
            <a:r>
              <a:rPr lang="en-US" dirty="0">
                <a:effectLst/>
                <a:latin typeface="Cambria" charset="0"/>
                <a:ea typeface="Cambria" charset="0"/>
                <a:cs typeface="Times New Roman" charset="0"/>
              </a:rPr>
              <a:t>c. Recommendations for extending current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4041" y="524107"/>
            <a:ext cx="29133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Typical (Report) Structure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46005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45025" y="291321"/>
            <a:ext cx="5886773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latin typeface="Cambria" charset="0"/>
                <a:ea typeface="Cambria" charset="0"/>
                <a:cs typeface="Times New Roman" charset="0"/>
              </a:rPr>
              <a:t>Some Topics:</a:t>
            </a:r>
          </a:p>
          <a:p>
            <a:endParaRPr lang="en-US" b="1" u="sng" dirty="0">
              <a:latin typeface="Cambria" charset="0"/>
              <a:ea typeface="Cambria" charset="0"/>
              <a:cs typeface="Times New Roman" charset="0"/>
            </a:endParaRPr>
          </a:p>
          <a:p>
            <a:endParaRPr lang="en-US" b="1" u="sng" dirty="0">
              <a:latin typeface="Cambria" charset="0"/>
              <a:ea typeface="Cambria" charset="0"/>
              <a:cs typeface="Times New Roman" charset="0"/>
            </a:endParaRPr>
          </a:p>
          <a:p>
            <a:endParaRPr lang="en-US" dirty="0">
              <a:latin typeface="Cambria" charset="0"/>
              <a:ea typeface="Cambria" charset="0"/>
              <a:cs typeface="Times New Roman" charset="0"/>
            </a:endParaRPr>
          </a:p>
          <a:p>
            <a: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dirty="0">
                <a:latin typeface="Cambria" charset="0"/>
                <a:ea typeface="Cambria" charset="0"/>
                <a:cs typeface="Helvetica" charset="0"/>
              </a:rPr>
              <a:t>1) Buffeting (acoustics), Car mirror and antenna, acoustics</a:t>
            </a:r>
            <a:endParaRPr lang="en-US" dirty="0">
              <a:latin typeface="Cambria" charset="0"/>
              <a:ea typeface="Cambria" charset="0"/>
              <a:cs typeface="Times New Roman" charset="0"/>
            </a:endParaRPr>
          </a:p>
          <a:p>
            <a:r>
              <a:rPr lang="en-US" dirty="0">
                <a:latin typeface="Cambria" charset="0"/>
                <a:ea typeface="Cambria" charset="0"/>
                <a:cs typeface="Times New Roman" charset="0"/>
              </a:rPr>
              <a:t>2) Drone mothership + glider</a:t>
            </a:r>
          </a:p>
          <a:p>
            <a: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dirty="0">
                <a:latin typeface="Cambria" charset="0"/>
                <a:ea typeface="Cambria" charset="0"/>
                <a:cs typeface="Helvetica" charset="0"/>
              </a:rPr>
              <a:t>3) Helicopter in ground effect</a:t>
            </a:r>
            <a:endParaRPr lang="en-US" dirty="0">
              <a:latin typeface="Cambria" charset="0"/>
              <a:ea typeface="Cambria" charset="0"/>
              <a:cs typeface="Times New Roman" charset="0"/>
            </a:endParaRPr>
          </a:p>
          <a:p>
            <a:r>
              <a:rPr lang="en-US" dirty="0">
                <a:latin typeface="Cambria" charset="0"/>
                <a:ea typeface="Cambria" charset="0"/>
                <a:cs typeface="Helvetica" charset="0"/>
              </a:rPr>
              <a:t>4) Aerial marker vibration</a:t>
            </a:r>
            <a:endParaRPr lang="en-US" dirty="0">
              <a:latin typeface="Cambria" charset="0"/>
              <a:ea typeface="Cambria" charset="0"/>
              <a:cs typeface="Times New Roman" charset="0"/>
            </a:endParaRPr>
          </a:p>
          <a:p>
            <a:r>
              <a:rPr lang="en-US" dirty="0">
                <a:latin typeface="Cambria" charset="0"/>
                <a:ea typeface="Cambria" charset="0"/>
                <a:cs typeface="Helvetica" charset="0"/>
              </a:rPr>
              <a:t>5) DBF – support</a:t>
            </a:r>
            <a:endParaRPr lang="en-US" dirty="0">
              <a:latin typeface="Cambria" charset="0"/>
              <a:ea typeface="Cambria" charset="0"/>
              <a:cs typeface="Times New Roman" charset="0"/>
            </a:endParaRPr>
          </a:p>
          <a:p>
            <a:r>
              <a:rPr lang="en-US" dirty="0">
                <a:latin typeface="Cambria" charset="0"/>
                <a:ea typeface="Cambria" charset="0"/>
                <a:cs typeface="Helvetica" charset="0"/>
              </a:rPr>
              <a:t>6) Motorcycle aero or rear view</a:t>
            </a:r>
            <a:endParaRPr lang="en-US" dirty="0">
              <a:latin typeface="Cambria" charset="0"/>
              <a:ea typeface="Cambria" charset="0"/>
              <a:cs typeface="Times New Roman" charset="0"/>
            </a:endParaRPr>
          </a:p>
          <a:p>
            <a:r>
              <a:rPr lang="en-US" dirty="0">
                <a:latin typeface="Cambria" charset="0"/>
                <a:ea typeface="Cambria" charset="0"/>
                <a:cs typeface="Helvetica" charset="0"/>
              </a:rPr>
              <a:t>7) Flapping flight</a:t>
            </a:r>
          </a:p>
          <a:p>
            <a:r>
              <a:rPr lang="en-US" dirty="0">
                <a:latin typeface="Cambria" charset="0"/>
                <a:ea typeface="Cambria" charset="0"/>
                <a:cs typeface="Times New Roman" charset="0"/>
              </a:rPr>
              <a:t>8) </a:t>
            </a:r>
            <a:r>
              <a:rPr lang="en-US">
                <a:latin typeface="Cambria" charset="0"/>
                <a:ea typeface="Cambria" charset="0"/>
                <a:cs typeface="Times New Roman" charset="0"/>
              </a:rPr>
              <a:t>High efficiency </a:t>
            </a:r>
            <a:r>
              <a:rPr lang="en-US" dirty="0">
                <a:latin typeface="Cambria" charset="0"/>
                <a:ea typeface="Cambria" charset="0"/>
                <a:cs typeface="Times New Roman" charset="0"/>
              </a:rPr>
              <a:t>drone</a:t>
            </a:r>
          </a:p>
          <a:p>
            <a:r>
              <a:rPr lang="en-US" dirty="0">
                <a:latin typeface="Cambria" charset="0"/>
                <a:ea typeface="Cambria" charset="0"/>
                <a:cs typeface="Helvetica" charset="0"/>
              </a:rPr>
              <a:t>9) VSTOL UAV</a:t>
            </a:r>
            <a:endParaRPr lang="en-US" dirty="0">
              <a:latin typeface="Cambria" charset="0"/>
              <a:ea typeface="Cambria" charset="0"/>
              <a:cs typeface="Times New Roman" charset="0"/>
            </a:endParaRPr>
          </a:p>
          <a:p>
            <a:r>
              <a:rPr lang="en-US" dirty="0">
                <a:latin typeface="Cambria" charset="0"/>
                <a:ea typeface="Cambria" charset="0"/>
                <a:cs typeface="Helvetica" charset="0"/>
              </a:rPr>
              <a:t>10) Tail sitter UAV (counter rotating + single rotor)</a:t>
            </a:r>
            <a:endParaRPr lang="en-US" dirty="0">
              <a:latin typeface="Cambria" charset="0"/>
              <a:ea typeface="Cambria" charset="0"/>
              <a:cs typeface="Times New Roman" charset="0"/>
            </a:endParaRPr>
          </a:p>
          <a:p>
            <a:r>
              <a:rPr lang="en-US" dirty="0">
                <a:latin typeface="Cambria" charset="0"/>
                <a:ea typeface="Cambria" charset="0"/>
                <a:cs typeface="Times New Roman" charset="0"/>
              </a:rPr>
              <a:t>11) Supersonic gurney flap (also CFD)</a:t>
            </a:r>
          </a:p>
          <a:p>
            <a:r>
              <a:rPr lang="en-US" dirty="0">
                <a:latin typeface="Cambria" charset="0"/>
                <a:ea typeface="Cambria" charset="0"/>
                <a:cs typeface="Times New Roman" charset="0"/>
              </a:rPr>
              <a:t>12) Velocity of vortex ring</a:t>
            </a:r>
          </a:p>
          <a:p>
            <a: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dirty="0">
                <a:latin typeface="Cambria" charset="0"/>
                <a:ea typeface="Cambria" charset="0"/>
                <a:cs typeface="Helvetica" charset="0"/>
              </a:rPr>
              <a:t>13) Propeller wing-tip vortex interaction</a:t>
            </a:r>
            <a:endParaRPr lang="en-US" dirty="0">
              <a:latin typeface="Cambria" charset="0"/>
              <a:ea typeface="Cambria" charset="0"/>
              <a:cs typeface="Times New Roman" charset="0"/>
            </a:endParaRPr>
          </a:p>
          <a:p>
            <a: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dirty="0">
                <a:latin typeface="Cambria" charset="0"/>
                <a:ea typeface="Cambria" charset="0"/>
                <a:cs typeface="Helvetica" charset="0"/>
              </a:rPr>
              <a:t>14) Ducted vs open propeller</a:t>
            </a:r>
            <a:endParaRPr lang="en-US" dirty="0">
              <a:latin typeface="Cambria" charset="0"/>
              <a:ea typeface="Cambria" charset="0"/>
              <a:cs typeface="Times New Roman" charset="0"/>
            </a:endParaRPr>
          </a:p>
          <a:p>
            <a: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dirty="0">
                <a:latin typeface="Cambria" charset="0"/>
                <a:ea typeface="Cambria" charset="0"/>
                <a:cs typeface="Helvetica" charset="0"/>
              </a:rPr>
              <a:t>15) Acoustic effects on airfoil</a:t>
            </a:r>
            <a:endParaRPr lang="en-US" dirty="0">
              <a:latin typeface="Cambria" charset="0"/>
              <a:ea typeface="Cambria" charset="0"/>
              <a:cs typeface="Times New Roman" charset="0"/>
            </a:endParaRPr>
          </a:p>
          <a:p>
            <a: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dirty="0">
                <a:latin typeface="Cambria" charset="0"/>
                <a:ea typeface="Cambria" charset="0"/>
                <a:cs typeface="Helvetica" charset="0"/>
              </a:rPr>
              <a:t>16) Parachutes</a:t>
            </a:r>
            <a:endParaRPr lang="en-US" dirty="0">
              <a:latin typeface="Cambria" charset="0"/>
              <a:ea typeface="Cambria" charset="0"/>
              <a:cs typeface="Times New Roman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C6AD8A-772A-F445-BA22-62B36FCB7A96}"/>
              </a:ext>
            </a:extLst>
          </p:cNvPr>
          <p:cNvSpPr txBox="1"/>
          <p:nvPr/>
        </p:nvSpPr>
        <p:spPr>
          <a:xfrm>
            <a:off x="6431798" y="1399316"/>
            <a:ext cx="549473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dirty="0">
                <a:latin typeface="Cambria" charset="0"/>
                <a:ea typeface="Cambria" charset="0"/>
                <a:cs typeface="Helvetica" charset="0"/>
              </a:rPr>
              <a:t>17) Quadcopter in forward flight + wing</a:t>
            </a:r>
            <a:endParaRPr lang="en-US" dirty="0">
              <a:latin typeface="Cambria" charset="0"/>
              <a:ea typeface="Cambria" charset="0"/>
              <a:cs typeface="Times New Roman" charset="0"/>
            </a:endParaRPr>
          </a:p>
          <a:p>
            <a: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dirty="0">
                <a:latin typeface="Cambria" charset="0"/>
                <a:ea typeface="Cambria" charset="0"/>
                <a:cs typeface="Helvetica" charset="0"/>
              </a:rPr>
              <a:t>18) Blown airfoil F-duct - to reduce lift</a:t>
            </a:r>
            <a:endParaRPr lang="en-US" dirty="0">
              <a:latin typeface="Cambria" charset="0"/>
              <a:ea typeface="Cambria" charset="0"/>
              <a:cs typeface="Times New Roman" charset="0"/>
            </a:endParaRPr>
          </a:p>
          <a:p>
            <a: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dirty="0">
                <a:latin typeface="Cambria" charset="0"/>
                <a:ea typeface="Cambria" charset="0"/>
                <a:cs typeface="Helvetica" charset="0"/>
              </a:rPr>
              <a:t>19) Kite with video and solar...</a:t>
            </a:r>
            <a:endParaRPr lang="en-US" dirty="0">
              <a:latin typeface="Cambria" charset="0"/>
              <a:ea typeface="Cambria" charset="0"/>
              <a:cs typeface="Times New Roman" charset="0"/>
            </a:endParaRPr>
          </a:p>
          <a:p>
            <a: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dirty="0">
                <a:latin typeface="Cambria" charset="0"/>
                <a:ea typeface="Cambria" charset="0"/>
                <a:cs typeface="Helvetica" charset="0"/>
              </a:rPr>
              <a:t>20) Drag of flags</a:t>
            </a:r>
            <a:endParaRPr lang="en-US" dirty="0">
              <a:latin typeface="Cambria" charset="0"/>
              <a:ea typeface="Cambria" charset="0"/>
              <a:cs typeface="Times New Roman" charset="0"/>
            </a:endParaRPr>
          </a:p>
          <a:p>
            <a:r>
              <a:rPr lang="en-US" dirty="0">
                <a:latin typeface="Cambria" charset="0"/>
                <a:ea typeface="Cambria" charset="0"/>
                <a:cs typeface="Helvetica" charset="0"/>
              </a:rPr>
              <a:t>21) Trapped vortex (low Re)</a:t>
            </a:r>
            <a:endParaRPr lang="en-US" dirty="0">
              <a:latin typeface="Cambria" charset="0"/>
              <a:ea typeface="Cambria" charset="0"/>
              <a:cs typeface="Times New Roman" charset="0"/>
            </a:endParaRPr>
          </a:p>
          <a:p>
            <a:r>
              <a:rPr lang="en-US" dirty="0">
                <a:latin typeface="Cambria" charset="0"/>
                <a:ea typeface="Cambria" charset="0"/>
                <a:cs typeface="Helvetica" charset="0"/>
              </a:rPr>
              <a:t>22) Wing tip devices </a:t>
            </a:r>
            <a:endParaRPr lang="en-US" dirty="0">
              <a:latin typeface="Cambria" charset="0"/>
              <a:ea typeface="Cambria" charset="0"/>
              <a:cs typeface="Times New Roman" charset="0"/>
            </a:endParaRPr>
          </a:p>
          <a:p>
            <a:r>
              <a:rPr lang="en-US" dirty="0">
                <a:latin typeface="Cambria" charset="0"/>
                <a:ea typeface="Cambria" charset="0"/>
                <a:cs typeface="Helvetica" charset="0"/>
              </a:rPr>
              <a:t>23) Smoke tunnel</a:t>
            </a:r>
          </a:p>
          <a:p>
            <a:r>
              <a:rPr lang="en-US" dirty="0">
                <a:latin typeface="Cambria" charset="0"/>
                <a:ea typeface="Cambria" charset="0"/>
                <a:cs typeface="Helvetica" charset="0"/>
              </a:rPr>
              <a:t>24) 3D printed airplane competition</a:t>
            </a:r>
          </a:p>
          <a:p>
            <a:r>
              <a:rPr lang="en-US" dirty="0">
                <a:latin typeface="Cambria" charset="0"/>
                <a:ea typeface="Cambria" charset="0"/>
                <a:cs typeface="Times New Roman" charset="0"/>
              </a:rPr>
              <a:t>25) Drag of fence?</a:t>
            </a:r>
          </a:p>
          <a:p>
            <a:r>
              <a:rPr lang="en-US" dirty="0"/>
              <a:t>26) UAV MQ-9 Propellor Optimization (supported)</a:t>
            </a:r>
          </a:p>
          <a:p>
            <a:r>
              <a:rPr lang="en-US" dirty="0"/>
              <a:t>27) ME Race car project – rear wing design (sponsored)</a:t>
            </a:r>
          </a:p>
          <a:p>
            <a:r>
              <a:rPr lang="en-US" dirty="0"/>
              <a:t>28) 3D Printed aircraft (sponsored)</a:t>
            </a:r>
          </a:p>
          <a:p>
            <a:r>
              <a:rPr lang="en-US" dirty="0"/>
              <a:t>29) CA Unmanned Aerial System Competition (</a:t>
            </a:r>
            <a:r>
              <a:rPr lang="en-US" dirty="0" err="1"/>
              <a:t>spons</a:t>
            </a:r>
            <a:r>
              <a:rPr lang="en-US" dirty="0"/>
              <a:t>.)</a:t>
            </a:r>
          </a:p>
          <a:p>
            <a:r>
              <a:rPr lang="en-US" dirty="0"/>
              <a:t>30) Small Drone finding of Direction/orientation (</a:t>
            </a:r>
            <a:r>
              <a:rPr lang="en-US" dirty="0" err="1"/>
              <a:t>spons</a:t>
            </a:r>
            <a:r>
              <a:rPr lang="en-US" dirty="0"/>
              <a:t>.)</a:t>
            </a:r>
          </a:p>
          <a:p>
            <a:r>
              <a:rPr lang="en-US" dirty="0"/>
              <a:t>31) WIG (wing in </a:t>
            </a:r>
            <a:r>
              <a:rPr lang="en-US"/>
              <a:t>ground effect)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144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1084</Words>
  <Application>Microsoft Macintosh PowerPoint</Application>
  <PresentationFormat>Widescreen</PresentationFormat>
  <Paragraphs>132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Helvetica Neue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Joseph Katz</dc:creator>
  <cp:lastModifiedBy>Joseph Katz</cp:lastModifiedBy>
  <cp:revision>56</cp:revision>
  <dcterms:created xsi:type="dcterms:W3CDTF">2020-08-10T14:37:10Z</dcterms:created>
  <dcterms:modified xsi:type="dcterms:W3CDTF">2026-01-19T23:41:45Z</dcterms:modified>
</cp:coreProperties>
</file>